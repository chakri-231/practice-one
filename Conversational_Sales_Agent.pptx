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13"/>
  </p:notesMasterIdLst>
  <p:handoutMasterIdLst>
    <p:handoutMasterId r:id="rId14"/>
  </p:handoutMasterIdLst>
  <p:sldIdLst>
    <p:sldId id="2561" r:id="rId5"/>
    <p:sldId id="2574" r:id="rId6"/>
    <p:sldId id="2563" r:id="rId7"/>
    <p:sldId id="2565" r:id="rId8"/>
    <p:sldId id="2567" r:id="rId9"/>
    <p:sldId id="2569" r:id="rId10"/>
    <p:sldId id="2571" r:id="rId11"/>
    <p:sldId id="25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versational AI Sales Agent with Review-Driven Bidding" id="{D3C66BE5-4952-4D0B-8265-91FBAC70AFB7}">
          <p14:sldIdLst>
            <p14:sldId id="2561"/>
            <p14:sldId id="2574"/>
          </p14:sldIdLst>
        </p14:section>
        <p14:section name="Introduction to AI-driven Sales Agent" id="{C4EDB705-BB51-47D6-9A3B-4801C5389642}">
          <p14:sldIdLst>
            <p14:sldId id="2563"/>
          </p14:sldIdLst>
        </p14:section>
        <p14:section name="Customer Engagement Flow" id="{643E5379-93E9-4D98-8210-0ECF445F62E8}">
          <p14:sldIdLst>
            <p14:sldId id="2565"/>
          </p14:sldIdLst>
        </p14:section>
        <p14:section name="Review Aggregation &amp; Analysis" id="{715456FF-392C-4D4A-8734-F5C4F1802E17}">
          <p14:sldIdLst>
            <p14:sldId id="2567"/>
          </p14:sldIdLst>
        </p14:section>
        <p14:section name="Price Quoting &amp; Comparison" id="{4C852E58-9653-491E-B0AC-3B7113F95241}">
          <p14:sldIdLst>
            <p14:sldId id="2569"/>
          </p14:sldIdLst>
        </p14:section>
        <p14:section name="Bidding Logic &amp; Negotiation Loop" id="{E40B9A47-35D2-4692-8628-D8E6A8740D16}">
          <p14:sldIdLst>
            <p14:sldId id="2571"/>
          </p14:sldIdLst>
        </p14:section>
        <p14:section name="Purchase &amp; Fulfillment" id="{2B377170-D551-4070-8236-FBAB2CE9BE0F}">
          <p14:sldIdLst>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9A7CF-0E1B-4739-9C94-F206C9E01345}" v="2" dt="2025-11-05T09:24:11.751"/>
    <p1510:client id="{AF0AAB09-D552-4B65-8327-A1CBDAA30D70}" v="16" dt="2025-11-05T08:48:20.605"/>
    <p1510:client id="{D83C711A-C497-8DB2-C764-1DA91649A98B}" v="23" dt="2025-11-05T08:53:34.908"/>
    <p1510:client id="{E6BCD83A-0036-8C4C-BE02-9AA3C17BD490}" v="38" dt="2025-11-05T09:21:40.798"/>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11/5/2025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370088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AI-driven conversational sales agent is designed to revolutionize the retail shopping experience by providing a seamless and personalized interaction across multiple customer touchpoints. This agent mimics a top-tier sales associate and engages customers through web chat, mobile apps, messaging platforms like WhatsApp, and in-store kiosks. It orchestrates a network of specialized Worker Agents to handle tasks such as product recommendations, inventory checks, payment processing, and post-purchase support. The goal is to unify fragmented shopping experiences and increase conversion rates and average order value (AOV) by anticipating customer needs and delivering tailored recommendations in real time.</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2104797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https://jp-prod.asyncgw.teams.microsoft.com/v1/objects/0-ea-d3-fa43f367ecffa82be89aef3639e5fb40/views/original/conversational_ai_architecture.png
The customer engagement flow begins with the AI agent sending a proactive message to the customer via their preferred channel. Upon clicking the message, the bot initiates a personalized conversation that includes product suggestions based on the customer's profile and preferences. The agent maintains session continuity even if the customer switches channels, such as moving from a mobile app to an in-store kiosk. The conversation progresses through review aggregation, price quoting, and a bidding loop if the customer is not satisfied with the initial offer. Once the customer agrees to a price, the agent books the product on the selected platform, such as Amazon or Flipkart, and coordinates delivery or in-store pickup.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2433439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Review Analysis Agent collects customer reviews from various platforms including Amazon, Flipkart, and brand websites. It uses natural language processing (NLP) techniques to perform sentiment analysis and summarize the key pros and cons of each product. This information is then presented to the customer in a concise and informative manner, helping them make informed decisions. By leveraging real user feedback, the agent builds trust and enhances the credibility of its recommendations. The review aggregation process also considers average ratings and highlights common themes across platforms to provide a holistic view of product performance.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2557077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Pricing Agent compares product prices across multiple platforms such as Amazon, Flipkart, and the brand's own website. It takes into account ongoing promotions, loyalty discounts, and seasonal offers to quote a competitive price to the customer. If the customer expresses dissatisfaction with the quoted price, the agent prepares to enter a negotiation loop. This price quoting mechanism ensures transparency and helps the customer feel confident that they are receiving the best possible deal. The agent also considers review quality and platform reliability when determining the final quoted price, aiming to balance cost with value.</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769619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If the customer rejects the initial price quote, the Negotiation Agent initiates a dynamic bidding loop that can run up to five rounds. During each round, the agent may apply incremental discounts, suggest product bundles, offer loyalty point redemption, or use urgency tactics such as limited stock alerts. The goal is to persuade the customer to complete the purchase by addressing objections and enhancing perceived value. This negotiation strategy mimics human sales psychology and adapts based on customer responses. If the customer accepts an offer at any stage, the loop ends and the product is booked. If all five attempts fail, the agent gracefully exits the conversation or suggests alternative products.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3487870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https://jp-prod.asyncgw.teams.microsoft.com/v1/objects/0-ea-d1-956d7c52cdd3bbdf446e624ef6422d7a/views/original/sales_agent_flowchart.png
Once the customer accepts the final offer, the Fulfillment Agent books the product on the selected platform, such as Amazon or Flipkart. It coordinates delivery or in-store pickup based on customer preferences and inventory availability. The system architecture supporting this process includes a central Sales Agent orchestrator, multiple Worker Agents, external APIs for product catalog, inventory, payment, and loyalty services, and a data layer comprising customer profiles and transaction databases. This modular architecture ensures scalability and allows for easy integration of new capabilities like gift wrapping or express delivery. The architecture diagram illustrates the interactions between user channels, agents, external systems, and data layers.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1083656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DD358-367E-1558-E992-2B8EDAE1FDB2}"/>
              </a:ext>
            </a:extLst>
          </p:cNvPr>
          <p:cNvSpPr>
            <a:spLocks noGrp="1"/>
          </p:cNvSpPr>
          <p:nvPr>
            <p:ph type="title"/>
          </p:nvPr>
        </p:nvSpPr>
        <p:spPr>
          <a:xfrm>
            <a:off x="593541" y="603503"/>
            <a:ext cx="4235820" cy="3739895"/>
          </a:xfrm>
        </p:spPr>
        <p:txBody>
          <a:bodyPr anchor="t">
            <a:normAutofit/>
          </a:bodyPr>
          <a:lstStyle/>
          <a:p>
            <a:r>
              <a:rPr lang="en-US" sz="4000"/>
              <a:t>Conversational AI Sales Agent with Review-Driven Bidding</a:t>
            </a:r>
          </a:p>
        </p:txBody>
      </p:sp>
      <p:sp>
        <p:nvSpPr>
          <p:cNvPr id="3" name="Subtitle 2">
            <a:extLst>
              <a:ext uri="{FF2B5EF4-FFF2-40B4-BE49-F238E27FC236}">
                <a16:creationId xmlns:a16="http://schemas.microsoft.com/office/drawing/2014/main" id="{B7001F1E-D59E-6630-72CD-AEFFBB1E0D75}"/>
              </a:ext>
            </a:extLst>
          </p:cNvPr>
          <p:cNvSpPr>
            <a:spLocks noGrp="1"/>
          </p:cNvSpPr>
          <p:nvPr>
            <p:ph type="subTitle" idx="1"/>
          </p:nvPr>
        </p:nvSpPr>
        <p:spPr>
          <a:xfrm>
            <a:off x="593541" y="4661255"/>
            <a:ext cx="4235820" cy="1380744"/>
          </a:xfrm>
        </p:spPr>
        <p:txBody>
          <a:bodyPr anchor="b">
            <a:normAutofit/>
          </a:bodyPr>
          <a:lstStyle/>
          <a:p>
            <a:r>
              <a:rPr lang="en-US"/>
              <a:t>Innovative AI enhancing sales through customer feedback</a:t>
            </a:r>
          </a:p>
        </p:txBody>
      </p:sp>
      <p:pic>
        <p:nvPicPr>
          <p:cNvPr id="4" name="Picture 3" descr="Artificial Intelligence digital concept with brain shape">
            <a:extLst>
              <a:ext uri="{FF2B5EF4-FFF2-40B4-BE49-F238E27FC236}">
                <a16:creationId xmlns:a16="http://schemas.microsoft.com/office/drawing/2014/main" id="{72F80809-2856-4128-8F98-BD3AB7C8F8CC}"/>
              </a:ext>
            </a:extLst>
          </p:cNvPr>
          <p:cNvPicPr>
            <a:picLocks noChangeAspect="1"/>
          </p:cNvPicPr>
          <p:nvPr/>
        </p:nvPicPr>
        <p:blipFill>
          <a:blip r:embed="rId3"/>
          <a:srcRect l="28587" r="17459"/>
          <a:stretch>
            <a:fillRect/>
          </a:stretch>
        </p:blipFill>
        <p:spPr>
          <a:xfrm>
            <a:off x="5613962" y="10"/>
            <a:ext cx="6578038" cy="6857990"/>
          </a:xfrm>
          <a:prstGeom prst="rect">
            <a:avLst/>
          </a:prstGeom>
          <a:noFill/>
        </p:spPr>
      </p:pic>
    </p:spTree>
    <p:extLst>
      <p:ext uri="{BB962C8B-B14F-4D97-AF65-F5344CB8AC3E}">
        <p14:creationId xmlns:p14="http://schemas.microsoft.com/office/powerpoint/2010/main" val="409742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 screen&#10;&#10;AI-generated content may be incorrect.">
            <a:extLst>
              <a:ext uri="{FF2B5EF4-FFF2-40B4-BE49-F238E27FC236}">
                <a16:creationId xmlns:a16="http://schemas.microsoft.com/office/drawing/2014/main" id="{DFD1FE44-D8A7-4735-97F9-80E2142398AF}"/>
              </a:ext>
            </a:extLst>
          </p:cNvPr>
          <p:cNvPicPr>
            <a:picLocks noGrp="1" noChangeAspect="1"/>
          </p:cNvPicPr>
          <p:nvPr>
            <p:ph idx="1"/>
          </p:nvPr>
        </p:nvPicPr>
        <p:blipFill>
          <a:blip r:embed="rId2"/>
          <a:srcRect t="5633" b="4367"/>
          <a:stretch>
            <a:fillRect/>
          </a:stretch>
        </p:blipFill>
        <p:spPr>
          <a:xfrm>
            <a:off x="20" y="1197438"/>
            <a:ext cx="12191980" cy="5660562"/>
          </a:xfrm>
          <a:prstGeom prst="rect">
            <a:avLst/>
          </a:prstGeom>
          <a:noFill/>
        </p:spPr>
      </p:pic>
      <p:sp>
        <p:nvSpPr>
          <p:cNvPr id="8" name="TextBox 7">
            <a:extLst>
              <a:ext uri="{FF2B5EF4-FFF2-40B4-BE49-F238E27FC236}">
                <a16:creationId xmlns:a16="http://schemas.microsoft.com/office/drawing/2014/main" id="{1316FE23-409D-98CC-27F4-222844947BEF}"/>
              </a:ext>
            </a:extLst>
          </p:cNvPr>
          <p:cNvSpPr txBox="1"/>
          <p:nvPr/>
        </p:nvSpPr>
        <p:spPr>
          <a:xfrm>
            <a:off x="206786" y="479276"/>
            <a:ext cx="11986110"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600" b="1">
                <a:ea typeface="+mn-lt"/>
                <a:cs typeface="+mn-lt"/>
              </a:rPr>
              <a:t>Architecture Diagram</a:t>
            </a:r>
            <a:endParaRPr lang="en-US" sz="2600" b="1"/>
          </a:p>
        </p:txBody>
      </p:sp>
    </p:spTree>
    <p:extLst>
      <p:ext uri="{BB962C8B-B14F-4D97-AF65-F5344CB8AC3E}">
        <p14:creationId xmlns:p14="http://schemas.microsoft.com/office/powerpoint/2010/main" val="2738589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D8A57-358F-0174-4360-3FC152C6EE0B}"/>
              </a:ext>
            </a:extLst>
          </p:cNvPr>
          <p:cNvSpPr>
            <a:spLocks noGrp="1"/>
          </p:cNvSpPr>
          <p:nvPr>
            <p:ph type="title"/>
          </p:nvPr>
        </p:nvSpPr>
        <p:spPr>
          <a:xfrm>
            <a:off x="612647" y="683319"/>
            <a:ext cx="6339541" cy="1143000"/>
          </a:xfrm>
        </p:spPr>
        <p:txBody>
          <a:bodyPr anchor="b">
            <a:normAutofit/>
          </a:bodyPr>
          <a:lstStyle/>
          <a:p>
            <a:r>
              <a:rPr lang="en-US"/>
              <a:t>Overview of the intelligent conversational agent</a:t>
            </a:r>
          </a:p>
        </p:txBody>
      </p:sp>
      <p:sp>
        <p:nvSpPr>
          <p:cNvPr id="3" name="Content Placeholder 2">
            <a:extLst>
              <a:ext uri="{FF2B5EF4-FFF2-40B4-BE49-F238E27FC236}">
                <a16:creationId xmlns:a16="http://schemas.microsoft.com/office/drawing/2014/main" id="{518C6C89-5BB0-E53D-D45F-272F850899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4" y="1975104"/>
            <a:ext cx="6339414" cy="4228997"/>
          </a:xfrm>
        </p:spPr>
        <p:txBody>
          <a:bodyPr>
            <a:normAutofit/>
          </a:bodyPr>
          <a:lstStyle/>
          <a:p>
            <a:pPr marL="0" indent="0">
              <a:spcBef>
                <a:spcPts val="2500"/>
              </a:spcBef>
              <a:buFont typeface="Arial" panose="020B0604020202020204" pitchFamily="34" charset="0"/>
              <a:buNone/>
            </a:pPr>
            <a:r>
              <a:rPr lang="en-US" sz="1400" b="1"/>
              <a:t>Seamless Multi-Channel Interaction</a:t>
            </a:r>
          </a:p>
          <a:p>
            <a:pPr marL="0" lvl="1" indent="0">
              <a:buFont typeface="Arial" panose="020B0604020202020204" pitchFamily="34" charset="0"/>
              <a:buNone/>
            </a:pPr>
            <a:r>
              <a:rPr lang="en-US" sz="1400"/>
              <a:t>The agent interacts with customers via web chat, mobile apps, messaging platforms, and in-store kiosks for a unified experience.</a:t>
            </a:r>
          </a:p>
          <a:p>
            <a:pPr marL="0" indent="0">
              <a:spcBef>
                <a:spcPts val="2500"/>
              </a:spcBef>
              <a:buFont typeface="Arial" panose="020B0604020202020204" pitchFamily="34" charset="0"/>
              <a:buNone/>
            </a:pPr>
            <a:r>
              <a:rPr lang="en-US" sz="1400" b="1"/>
              <a:t>Specialized Worker Agents</a:t>
            </a:r>
          </a:p>
          <a:p>
            <a:pPr marL="0" lvl="1" indent="0">
              <a:buFont typeface="Arial" panose="020B0604020202020204" pitchFamily="34" charset="0"/>
              <a:buNone/>
            </a:pPr>
            <a:r>
              <a:rPr lang="en-US" sz="1400"/>
              <a:t>Worker Agents handle specific tasks like product recommendations, inventory checks, payment processing, and support.</a:t>
            </a:r>
          </a:p>
          <a:p>
            <a:pPr marL="0" indent="0">
              <a:spcBef>
                <a:spcPts val="2500"/>
              </a:spcBef>
              <a:buFont typeface="Arial" panose="020B0604020202020204" pitchFamily="34" charset="0"/>
              <a:buNone/>
            </a:pPr>
            <a:r>
              <a:rPr lang="en-US" sz="1400" b="1"/>
              <a:t>Personalized Shopping Experience</a:t>
            </a:r>
          </a:p>
          <a:p>
            <a:pPr marL="0" lvl="1" indent="0">
              <a:buFont typeface="Arial" panose="020B0604020202020204" pitchFamily="34" charset="0"/>
              <a:buNone/>
            </a:pPr>
            <a:r>
              <a:rPr lang="en-US" sz="1400"/>
              <a:t>The agent delivers real-time tailored recommendations by anticipating customer needs to boost conversion and AOV.</a:t>
            </a:r>
          </a:p>
        </p:txBody>
      </p:sp>
      <p:pic>
        <p:nvPicPr>
          <p:cNvPr id="5" name="Content Placeholder 4" descr="During Covid-19 pandemic time is now popular a mobile app with a Travel Passport for the people who got vaccination.">
            <a:extLst>
              <a:ext uri="{FF2B5EF4-FFF2-40B4-BE49-F238E27FC236}">
                <a16:creationId xmlns:a16="http://schemas.microsoft.com/office/drawing/2014/main" id="{6FCEE4CB-ADC2-421C-AE80-170E15F1A558}"/>
              </a:ext>
            </a:extLst>
          </p:cNvPr>
          <p:cNvPicPr>
            <a:picLocks noGrp="1" noChangeAspect="1"/>
          </p:cNvPicPr>
          <p:nvPr>
            <p:ph type="pic" sz="quarter" idx="13"/>
          </p:nvPr>
        </p:nvPicPr>
        <p:blipFill>
          <a:blip r:embed="rId3"/>
          <a:srcRect l="26131" r="29416" b="-1"/>
          <a:stretch>
            <a:fillRect/>
          </a:stretch>
        </p:blipFill>
        <p:spPr>
          <a:xfrm>
            <a:off x="7624831" y="10"/>
            <a:ext cx="4567169" cy="6857990"/>
          </a:xfrm>
          <a:prstGeom prst="rect">
            <a:avLst/>
          </a:prstGeom>
          <a:noFill/>
          <a:ln w="25400">
            <a:solidFill>
              <a:srgbClr val="000000"/>
            </a:solidFill>
          </a:ln>
        </p:spPr>
      </p:pic>
    </p:spTree>
    <p:extLst>
      <p:ext uri="{BB962C8B-B14F-4D97-AF65-F5344CB8AC3E}">
        <p14:creationId xmlns:p14="http://schemas.microsoft.com/office/powerpoint/2010/main" val="3207097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666A3-A97B-AE6D-17B6-DD986CAC160E}"/>
              </a:ext>
            </a:extLst>
          </p:cNvPr>
          <p:cNvSpPr>
            <a:spLocks noGrp="1"/>
          </p:cNvSpPr>
          <p:nvPr>
            <p:ph type="title"/>
          </p:nvPr>
        </p:nvSpPr>
        <p:spPr>
          <a:xfrm>
            <a:off x="612648" y="706802"/>
            <a:ext cx="4672584" cy="1269482"/>
          </a:xfrm>
        </p:spPr>
        <p:txBody>
          <a:bodyPr anchor="t">
            <a:normAutofit/>
          </a:bodyPr>
          <a:lstStyle/>
          <a:p>
            <a:r>
              <a:rPr lang="en-US"/>
              <a:t>Flow from message to product booking</a:t>
            </a:r>
          </a:p>
        </p:txBody>
      </p:sp>
      <p:pic>
        <p:nvPicPr>
          <p:cNvPr id="5" name="Content Placeholder 4" descr="Social media and people 4K">
            <a:extLst>
              <a:ext uri="{FF2B5EF4-FFF2-40B4-BE49-F238E27FC236}">
                <a16:creationId xmlns:a16="http://schemas.microsoft.com/office/drawing/2014/main" id="{4FDB2EB8-AA58-4D08-8379-90C1F231F33C}"/>
              </a:ext>
            </a:extLst>
          </p:cNvPr>
          <p:cNvPicPr>
            <a:picLocks noGrp="1" noChangeAspect="1"/>
          </p:cNvPicPr>
          <p:nvPr>
            <p:ph type="pic" sz="quarter" idx="15"/>
          </p:nvPr>
        </p:nvPicPr>
        <p:blipFill>
          <a:blip r:embed="rId3"/>
          <a:stretch/>
        </p:blipFill>
        <p:spPr>
          <a:xfrm>
            <a:off x="609599" y="2808213"/>
            <a:ext cx="4488792" cy="2524945"/>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901D24B7-B5D3-36EB-82E5-70B25025ED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Proactive Customer Messaging</a:t>
            </a:r>
          </a:p>
          <a:p>
            <a:pPr marL="0" lvl="1" indent="0">
              <a:buFont typeface="Arial" panose="020B0604020202020204" pitchFamily="34" charset="0"/>
              <a:buNone/>
            </a:pPr>
            <a:r>
              <a:rPr lang="en-US" sz="1400"/>
              <a:t>AI agent sends proactive messages to customers via their preferred communication channels to initiate engagement.</a:t>
            </a:r>
          </a:p>
          <a:p>
            <a:pPr marL="0" indent="0">
              <a:spcBef>
                <a:spcPts val="2500"/>
              </a:spcBef>
              <a:buFont typeface="Arial" panose="020B0604020202020204" pitchFamily="34" charset="0"/>
              <a:buNone/>
            </a:pPr>
            <a:r>
              <a:rPr lang="en-US" sz="1400" b="1"/>
              <a:t>Personalized Conversation &amp; Suggestions</a:t>
            </a:r>
          </a:p>
          <a:p>
            <a:pPr marL="0" lvl="1" indent="0">
              <a:buFont typeface="Arial" panose="020B0604020202020204" pitchFamily="34" charset="0"/>
              <a:buNone/>
            </a:pPr>
            <a:r>
              <a:rPr lang="en-US" sz="1400"/>
              <a:t>Bot personalizes product suggestions based on customer profiles and maintains conversation continuity across channels.</a:t>
            </a:r>
          </a:p>
          <a:p>
            <a:pPr marL="0" indent="0">
              <a:spcBef>
                <a:spcPts val="2500"/>
              </a:spcBef>
              <a:buFont typeface="Arial" panose="020B0604020202020204" pitchFamily="34" charset="0"/>
              <a:buNone/>
            </a:pPr>
            <a:r>
              <a:rPr lang="en-US" sz="1400" b="1"/>
              <a:t>Review, Pricing &amp; Bidding</a:t>
            </a:r>
          </a:p>
          <a:p>
            <a:pPr marL="0" lvl="1" indent="0">
              <a:buFont typeface="Arial" panose="020B0604020202020204" pitchFamily="34" charset="0"/>
              <a:buNone/>
            </a:pPr>
            <a:r>
              <a:rPr lang="en-US" sz="1400"/>
              <a:t>Conversation includes review aggregation, price quoting, and a bidding loop to ensure customer satisfaction before purchase.</a:t>
            </a:r>
          </a:p>
          <a:p>
            <a:pPr marL="0" indent="0">
              <a:spcBef>
                <a:spcPts val="2500"/>
              </a:spcBef>
              <a:buFont typeface="Arial" panose="020B0604020202020204" pitchFamily="34" charset="0"/>
              <a:buNone/>
            </a:pPr>
            <a:r>
              <a:rPr lang="en-US" sz="1400" b="1"/>
              <a:t>Product Booking and Fulfillment</a:t>
            </a:r>
          </a:p>
          <a:p>
            <a:pPr marL="0" lvl="1" indent="0">
              <a:buFont typeface="Arial" panose="020B0604020202020204" pitchFamily="34" charset="0"/>
              <a:buNone/>
            </a:pPr>
            <a:r>
              <a:rPr lang="en-US" sz="1400"/>
              <a:t>Once price is agreed, the agent books the product and coordinates delivery or in-store pickup on chosen platform.</a:t>
            </a:r>
          </a:p>
        </p:txBody>
      </p:sp>
    </p:spTree>
    <p:extLst>
      <p:ext uri="{BB962C8B-B14F-4D97-AF65-F5344CB8AC3E}">
        <p14:creationId xmlns:p14="http://schemas.microsoft.com/office/powerpoint/2010/main" val="41128546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C2A6-1C08-9CCA-05B3-3D68CBF1D3C0}"/>
              </a:ext>
            </a:extLst>
          </p:cNvPr>
          <p:cNvSpPr>
            <a:spLocks noGrp="1"/>
          </p:cNvSpPr>
          <p:nvPr>
            <p:ph type="title"/>
          </p:nvPr>
        </p:nvSpPr>
        <p:spPr>
          <a:xfrm>
            <a:off x="612647" y="552478"/>
            <a:ext cx="6858000" cy="932688"/>
          </a:xfrm>
        </p:spPr>
        <p:txBody>
          <a:bodyPr anchor="b">
            <a:normAutofit/>
          </a:bodyPr>
          <a:lstStyle/>
          <a:p>
            <a:r>
              <a:rPr lang="en-US" sz="2800"/>
              <a:t>Collecting and analyzing customer reviews</a:t>
            </a:r>
          </a:p>
        </p:txBody>
      </p:sp>
      <p:sp>
        <p:nvSpPr>
          <p:cNvPr id="3" name="Content Placeholder 2">
            <a:extLst>
              <a:ext uri="{FF2B5EF4-FFF2-40B4-BE49-F238E27FC236}">
                <a16:creationId xmlns:a16="http://schemas.microsoft.com/office/drawing/2014/main" id="{44CC7D1A-309F-7EDF-9DE3-D0624AAA39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Review Collection Platforms</a:t>
            </a:r>
          </a:p>
          <a:p>
            <a:pPr marL="0" lvl="1" indent="0">
              <a:buFont typeface="Arial" panose="020B0604020202020204" pitchFamily="34" charset="0"/>
              <a:buNone/>
            </a:pPr>
            <a:r>
              <a:rPr lang="en-US" sz="1400"/>
              <a:t>The agent gathers customer reviews from multiple platforms like Amazon, Flipkart, and brand websites for comprehensive data.</a:t>
            </a:r>
          </a:p>
          <a:p>
            <a:pPr marL="0" indent="0">
              <a:spcBef>
                <a:spcPts val="2500"/>
              </a:spcBef>
              <a:buFont typeface="Arial" panose="020B0604020202020204" pitchFamily="34" charset="0"/>
              <a:buNone/>
            </a:pPr>
            <a:r>
              <a:rPr lang="en-US" sz="1400" b="1"/>
              <a:t>Sentiment Analysis with NLP</a:t>
            </a:r>
          </a:p>
          <a:p>
            <a:pPr marL="0" lvl="1" indent="0">
              <a:buFont typeface="Arial" panose="020B0604020202020204" pitchFamily="34" charset="0"/>
              <a:buNone/>
            </a:pPr>
            <a:r>
              <a:rPr lang="en-US" sz="1400"/>
              <a:t>Natural language processing is used to analyze sentiments, extracting key pros and cons from customer feedback.</a:t>
            </a:r>
          </a:p>
          <a:p>
            <a:pPr marL="0" indent="0">
              <a:spcBef>
                <a:spcPts val="2500"/>
              </a:spcBef>
              <a:buFont typeface="Arial" panose="020B0604020202020204" pitchFamily="34" charset="0"/>
              <a:buNone/>
            </a:pPr>
            <a:r>
              <a:rPr lang="en-US" sz="1400" b="1"/>
              <a:t>Summary and Presentation</a:t>
            </a:r>
          </a:p>
          <a:p>
            <a:pPr marL="0" lvl="1" indent="0">
              <a:buFont typeface="Arial" panose="020B0604020202020204" pitchFamily="34" charset="0"/>
              <a:buNone/>
            </a:pPr>
            <a:r>
              <a:rPr lang="en-US" sz="1400"/>
              <a:t>Summarized insights help customers make informed decisions by presenting concise product pros and cons.</a:t>
            </a:r>
          </a:p>
          <a:p>
            <a:pPr marL="0" indent="0">
              <a:spcBef>
                <a:spcPts val="2500"/>
              </a:spcBef>
              <a:buFont typeface="Arial" panose="020B0604020202020204" pitchFamily="34" charset="0"/>
              <a:buNone/>
            </a:pPr>
            <a:r>
              <a:rPr lang="en-US" sz="1400" b="1"/>
              <a:t>Aggregate Ratings and Themes</a:t>
            </a:r>
          </a:p>
          <a:p>
            <a:pPr marL="0" lvl="1" indent="0">
              <a:buFont typeface="Arial" panose="020B0604020202020204" pitchFamily="34" charset="0"/>
              <a:buNone/>
            </a:pPr>
            <a:r>
              <a:rPr lang="en-US" sz="1400"/>
              <a:t>The agent considers average ratings and highlights common themes for a holistic view of product performance.</a:t>
            </a:r>
          </a:p>
        </p:txBody>
      </p:sp>
      <p:pic>
        <p:nvPicPr>
          <p:cNvPr id="5" name="Content Placeholder 4" descr="3d illustration">
            <a:extLst>
              <a:ext uri="{FF2B5EF4-FFF2-40B4-BE49-F238E27FC236}">
                <a16:creationId xmlns:a16="http://schemas.microsoft.com/office/drawing/2014/main" id="{EAC1240B-0A79-4D1D-BEAC-339CEA4D337F}"/>
              </a:ext>
            </a:extLst>
          </p:cNvPr>
          <p:cNvPicPr>
            <a:picLocks noGrp="1" noChangeAspect="1"/>
          </p:cNvPicPr>
          <p:nvPr>
            <p:ph type="pic" sz="quarter" idx="13"/>
          </p:nvPr>
        </p:nvPicPr>
        <p:blipFill>
          <a:blip r:embed="rId3"/>
          <a:srcRect l="12999" r="27213"/>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916347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11505-FA45-F668-FA59-ADB8F0ECA0EF}"/>
              </a:ext>
            </a:extLst>
          </p:cNvPr>
          <p:cNvSpPr>
            <a:spLocks noGrp="1"/>
          </p:cNvSpPr>
          <p:nvPr>
            <p:ph type="title"/>
          </p:nvPr>
        </p:nvSpPr>
        <p:spPr>
          <a:xfrm>
            <a:off x="612647" y="552478"/>
            <a:ext cx="6858000" cy="932688"/>
          </a:xfrm>
        </p:spPr>
        <p:txBody>
          <a:bodyPr anchor="b">
            <a:normAutofit/>
          </a:bodyPr>
          <a:lstStyle/>
          <a:p>
            <a:r>
              <a:rPr lang="en-US" sz="2800"/>
              <a:t>Comparing prices and quoting competitive offers</a:t>
            </a:r>
          </a:p>
        </p:txBody>
      </p:sp>
      <p:sp>
        <p:nvSpPr>
          <p:cNvPr id="3" name="Content Placeholder 2">
            <a:extLst>
              <a:ext uri="{FF2B5EF4-FFF2-40B4-BE49-F238E27FC236}">
                <a16:creationId xmlns:a16="http://schemas.microsoft.com/office/drawing/2014/main" id="{3BE073F4-E27A-F14B-FB03-BBA63F36CB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Multi-platform Price Comparison</a:t>
            </a:r>
          </a:p>
          <a:p>
            <a:pPr marL="0" lvl="1" indent="0">
              <a:buFont typeface="Arial" panose="020B0604020202020204" pitchFamily="34" charset="0"/>
              <a:buNone/>
            </a:pPr>
            <a:r>
              <a:rPr lang="en-US" sz="1400"/>
              <a:t>The Pricing Agent evaluates product prices from various platforms to find the best deal for customers.</a:t>
            </a:r>
          </a:p>
          <a:p>
            <a:pPr marL="0" indent="0">
              <a:spcBef>
                <a:spcPts val="2500"/>
              </a:spcBef>
              <a:buFont typeface="Arial" panose="020B0604020202020204" pitchFamily="34" charset="0"/>
              <a:buNone/>
            </a:pPr>
            <a:r>
              <a:rPr lang="en-US" sz="1400" b="1"/>
              <a:t>Incorporating Discounts and Offers</a:t>
            </a:r>
          </a:p>
          <a:p>
            <a:pPr marL="0" lvl="1" indent="0">
              <a:buFont typeface="Arial" panose="020B0604020202020204" pitchFamily="34" charset="0"/>
              <a:buNone/>
            </a:pPr>
            <a:r>
              <a:rPr lang="en-US" sz="1400"/>
              <a:t>Promotions, loyalty discounts, and seasonal offers are factored in to quote competitive prices.</a:t>
            </a:r>
          </a:p>
          <a:p>
            <a:pPr marL="0" indent="0">
              <a:spcBef>
                <a:spcPts val="2500"/>
              </a:spcBef>
              <a:buFont typeface="Arial" panose="020B0604020202020204" pitchFamily="34" charset="0"/>
              <a:buNone/>
            </a:pPr>
            <a:r>
              <a:rPr lang="en-US" sz="1400" b="1"/>
              <a:t>Negotiation Loop Preparation</a:t>
            </a:r>
          </a:p>
          <a:p>
            <a:pPr marL="0" lvl="1" indent="0">
              <a:buFont typeface="Arial" panose="020B0604020202020204" pitchFamily="34" charset="0"/>
              <a:buNone/>
            </a:pPr>
            <a:r>
              <a:rPr lang="en-US" sz="1400"/>
              <a:t>If customers are dissatisfied, the agent prepares to enter a negotiation process to improve offers.</a:t>
            </a:r>
          </a:p>
          <a:p>
            <a:pPr marL="0" indent="0">
              <a:spcBef>
                <a:spcPts val="2500"/>
              </a:spcBef>
              <a:buFont typeface="Arial" panose="020B0604020202020204" pitchFamily="34" charset="0"/>
              <a:buNone/>
            </a:pPr>
            <a:r>
              <a:rPr lang="en-US" sz="1400" b="1"/>
              <a:t>Balancing Cost and Value</a:t>
            </a:r>
          </a:p>
          <a:p>
            <a:pPr marL="0" lvl="1" indent="0">
              <a:buFont typeface="Arial" panose="020B0604020202020204" pitchFamily="34" charset="0"/>
              <a:buNone/>
            </a:pPr>
            <a:r>
              <a:rPr lang="en-US" sz="1400"/>
              <a:t>Review quality and platform reliability are considered alongside price for a balanced final offer.</a:t>
            </a:r>
          </a:p>
        </p:txBody>
      </p:sp>
      <p:pic>
        <p:nvPicPr>
          <p:cNvPr id="5" name="Content Placeholder 4" descr="mobile concept">
            <a:extLst>
              <a:ext uri="{FF2B5EF4-FFF2-40B4-BE49-F238E27FC236}">
                <a16:creationId xmlns:a16="http://schemas.microsoft.com/office/drawing/2014/main" id="{1AB933D2-EA25-4F78-938E-6D8117D55C69}"/>
              </a:ext>
            </a:extLst>
          </p:cNvPr>
          <p:cNvPicPr>
            <a:picLocks noGrp="1" noChangeAspect="1"/>
          </p:cNvPicPr>
          <p:nvPr>
            <p:ph type="pic" sz="quarter" idx="13"/>
          </p:nvPr>
        </p:nvPicPr>
        <p:blipFill>
          <a:blip r:embed="rId3"/>
          <a:srcRect l="14736" r="20975"/>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2719669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2B8A-C014-2C11-2533-9E0460DE0380}"/>
              </a:ext>
            </a:extLst>
          </p:cNvPr>
          <p:cNvSpPr>
            <a:spLocks noGrp="1"/>
          </p:cNvSpPr>
          <p:nvPr>
            <p:ph type="title"/>
          </p:nvPr>
        </p:nvSpPr>
        <p:spPr>
          <a:xfrm>
            <a:off x="612647" y="552478"/>
            <a:ext cx="6858000" cy="932688"/>
          </a:xfrm>
        </p:spPr>
        <p:txBody>
          <a:bodyPr anchor="b">
            <a:normAutofit/>
          </a:bodyPr>
          <a:lstStyle/>
          <a:p>
            <a:r>
              <a:rPr lang="en-US" sz="2800"/>
              <a:t>Dynamic negotiation to drive purchase</a:t>
            </a:r>
          </a:p>
        </p:txBody>
      </p:sp>
      <p:sp>
        <p:nvSpPr>
          <p:cNvPr id="3" name="Content Placeholder 2">
            <a:extLst>
              <a:ext uri="{FF2B5EF4-FFF2-40B4-BE49-F238E27FC236}">
                <a16:creationId xmlns:a16="http://schemas.microsoft.com/office/drawing/2014/main" id="{4D9C8157-2921-CF18-7B3C-3742543C02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Dynamic Bidding Process</a:t>
            </a:r>
          </a:p>
          <a:p>
            <a:pPr marL="0" lvl="1" indent="0">
              <a:buFont typeface="Arial" panose="020B0604020202020204" pitchFamily="34" charset="0"/>
              <a:buNone/>
            </a:pPr>
            <a:r>
              <a:rPr lang="en-US" sz="1400"/>
              <a:t>The agent conducts up to five negotiation rounds using discounts and product bundles to persuade customers.</a:t>
            </a:r>
          </a:p>
          <a:p>
            <a:pPr marL="0" indent="0">
              <a:spcBef>
                <a:spcPts val="2500"/>
              </a:spcBef>
              <a:buFont typeface="Arial" panose="020B0604020202020204" pitchFamily="34" charset="0"/>
              <a:buNone/>
            </a:pPr>
            <a:r>
              <a:rPr lang="en-US" sz="1400" b="1"/>
              <a:t>Customer Engagement Tactics</a:t>
            </a:r>
          </a:p>
          <a:p>
            <a:pPr marL="0" lvl="1" indent="0">
              <a:buFont typeface="Arial" panose="020B0604020202020204" pitchFamily="34" charset="0"/>
              <a:buNone/>
            </a:pPr>
            <a:r>
              <a:rPr lang="en-US" sz="1400"/>
              <a:t>Urgency tactics like limited stock alerts and loyalty point redemptions enhance perceived value and drive purchases.</a:t>
            </a:r>
          </a:p>
          <a:p>
            <a:pPr marL="0" indent="0">
              <a:spcBef>
                <a:spcPts val="2500"/>
              </a:spcBef>
              <a:buFont typeface="Arial" panose="020B0604020202020204" pitchFamily="34" charset="0"/>
              <a:buNone/>
            </a:pPr>
            <a:r>
              <a:rPr lang="en-US" sz="1400" b="1"/>
              <a:t>Adaptive Negotiation Strategy</a:t>
            </a:r>
          </a:p>
          <a:p>
            <a:pPr marL="0" lvl="1" indent="0">
              <a:buFont typeface="Arial" panose="020B0604020202020204" pitchFamily="34" charset="0"/>
              <a:buNone/>
            </a:pPr>
            <a:r>
              <a:rPr lang="en-US" sz="1400"/>
              <a:t>The agent adapts offers based on customer responses, mimicking human sales psychology to finalize sales.</a:t>
            </a:r>
          </a:p>
          <a:p>
            <a:pPr marL="0" indent="0">
              <a:spcBef>
                <a:spcPts val="2500"/>
              </a:spcBef>
              <a:buFont typeface="Arial" panose="020B0604020202020204" pitchFamily="34" charset="0"/>
              <a:buNone/>
            </a:pPr>
            <a:r>
              <a:rPr lang="en-US" sz="1400" b="1"/>
              <a:t>Graceful Exit and Alternatives</a:t>
            </a:r>
          </a:p>
          <a:p>
            <a:pPr marL="0" lvl="1" indent="0">
              <a:buFont typeface="Arial" panose="020B0604020202020204" pitchFamily="34" charset="0"/>
              <a:buNone/>
            </a:pPr>
            <a:r>
              <a:rPr lang="en-US" sz="1400"/>
              <a:t>If negotiations fail after five rounds, the agent exits politely or proposes alternative products for the customer.</a:t>
            </a:r>
          </a:p>
        </p:txBody>
      </p:sp>
      <p:pic>
        <p:nvPicPr>
          <p:cNvPr id="5" name="Content Placeholder 4" descr="30-39 Years, 5G, Adult, Businessman, Artificial Intelligence">
            <a:extLst>
              <a:ext uri="{FF2B5EF4-FFF2-40B4-BE49-F238E27FC236}">
                <a16:creationId xmlns:a16="http://schemas.microsoft.com/office/drawing/2014/main" id="{4B7F379C-9683-4689-AE92-24684332340B}"/>
              </a:ext>
            </a:extLst>
          </p:cNvPr>
          <p:cNvPicPr>
            <a:picLocks noGrp="1" noChangeAspect="1"/>
          </p:cNvPicPr>
          <p:nvPr>
            <p:ph type="pic" sz="quarter" idx="13"/>
          </p:nvPr>
        </p:nvPicPr>
        <p:blipFill>
          <a:blip r:embed="rId3"/>
          <a:srcRect l="38255" r="21836"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05807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7986-3B89-BA3B-95FD-6560C613EC44}"/>
              </a:ext>
            </a:extLst>
          </p:cNvPr>
          <p:cNvSpPr>
            <a:spLocks noGrp="1"/>
          </p:cNvSpPr>
          <p:nvPr>
            <p:ph type="title"/>
          </p:nvPr>
        </p:nvSpPr>
        <p:spPr>
          <a:xfrm>
            <a:off x="612649" y="538716"/>
            <a:ext cx="4494189" cy="1288169"/>
          </a:xfrm>
        </p:spPr>
        <p:txBody>
          <a:bodyPr anchor="b">
            <a:normAutofit/>
          </a:bodyPr>
          <a:lstStyle/>
          <a:p>
            <a:r>
              <a:rPr lang="en-US" sz="3300"/>
              <a:t>Final booking and system architecture</a:t>
            </a:r>
          </a:p>
        </p:txBody>
      </p:sp>
      <p:sp>
        <p:nvSpPr>
          <p:cNvPr id="3" name="Content Placeholder 2">
            <a:extLst>
              <a:ext uri="{FF2B5EF4-FFF2-40B4-BE49-F238E27FC236}">
                <a16:creationId xmlns:a16="http://schemas.microsoft.com/office/drawing/2014/main" id="{38125534-0AA8-F952-9512-F1BACB8611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Booking Process Overview</a:t>
            </a:r>
          </a:p>
          <a:p>
            <a:pPr marL="0" lvl="1" indent="0">
              <a:buFont typeface="Arial" panose="020B0604020202020204" pitchFamily="34" charset="0"/>
              <a:buNone/>
            </a:pPr>
            <a:r>
              <a:rPr lang="en-US" sz="1400"/>
              <a:t>The Fulfillment Agent books products after customer acceptance, coordinating delivery or pickup based on preferences and inventory.</a:t>
            </a:r>
          </a:p>
          <a:p>
            <a:pPr marL="0" indent="0">
              <a:spcBef>
                <a:spcPts val="2500"/>
              </a:spcBef>
              <a:buFont typeface="Arial" panose="020B0604020202020204" pitchFamily="34" charset="0"/>
              <a:buNone/>
            </a:pPr>
            <a:r>
              <a:rPr lang="en-US" sz="1400" b="1"/>
              <a:t>System Architecture Components</a:t>
            </a:r>
          </a:p>
          <a:p>
            <a:pPr marL="0" lvl="1" indent="0">
              <a:buFont typeface="Arial" panose="020B0604020202020204" pitchFamily="34" charset="0"/>
              <a:buNone/>
            </a:pPr>
            <a:r>
              <a:rPr lang="en-US" sz="1400"/>
              <a:t>The system features a Sales Agent orchestrator, multiple Worker Agents, external APIs, and a data layer for profiles and transactions.</a:t>
            </a:r>
          </a:p>
          <a:p>
            <a:pPr marL="0" indent="0">
              <a:spcBef>
                <a:spcPts val="2500"/>
              </a:spcBef>
              <a:buFont typeface="Arial" panose="020B0604020202020204" pitchFamily="34" charset="0"/>
              <a:buNone/>
            </a:pPr>
            <a:r>
              <a:rPr lang="en-US" sz="1400" b="1"/>
              <a:t>Scalability and Integration</a:t>
            </a:r>
          </a:p>
          <a:p>
            <a:pPr marL="0" lvl="1" indent="0">
              <a:buFont typeface="Arial" panose="020B0604020202020204" pitchFamily="34" charset="0"/>
              <a:buNone/>
            </a:pPr>
            <a:r>
              <a:rPr lang="en-US" sz="1400"/>
              <a:t>Modular architecture allows scalability and easy integration of new services like gift wrapping and express delivery.</a:t>
            </a:r>
          </a:p>
        </p:txBody>
      </p:sp>
      <p:pic>
        <p:nvPicPr>
          <p:cNvPr id="5" name="Content Placeholder 4" descr="Desktop computers connected in a network.See all my">
            <a:extLst>
              <a:ext uri="{FF2B5EF4-FFF2-40B4-BE49-F238E27FC236}">
                <a16:creationId xmlns:a16="http://schemas.microsoft.com/office/drawing/2014/main" id="{719B7C5D-0421-4473-9B7A-3AE59573C9BB}"/>
              </a:ext>
            </a:extLst>
          </p:cNvPr>
          <p:cNvPicPr>
            <a:picLocks noGrp="1" noChangeAspect="1"/>
          </p:cNvPicPr>
          <p:nvPr>
            <p:ph type="pic" sz="quarter" idx="13"/>
          </p:nvPr>
        </p:nvPicPr>
        <p:blipFill>
          <a:blip r:embed="rId3"/>
          <a:stretch/>
        </p:blipFill>
        <p:spPr>
          <a:xfrm>
            <a:off x="5658928" y="979098"/>
            <a:ext cx="6533072" cy="4899804"/>
          </a:xfrm>
          <a:prstGeom prst="rect">
            <a:avLst/>
          </a:prstGeom>
          <a:noFill/>
          <a:ln w="25400">
            <a:solidFill>
              <a:srgbClr val="000000"/>
            </a:solidFill>
          </a:ln>
        </p:spPr>
      </p:pic>
    </p:spTree>
    <p:extLst>
      <p:ext uri="{BB962C8B-B14F-4D97-AF65-F5344CB8AC3E}">
        <p14:creationId xmlns:p14="http://schemas.microsoft.com/office/powerpoint/2010/main" val="7010070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C1B1D1-0368-4ED3-8004-0F946C56E5DB}">
  <ds:schemaRefs>
    <ds:schemaRef ds:uri="http://schemas.microsoft.com/sharepoint/v3"/>
    <ds:schemaRef ds:uri="http://purl.org/dc/term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71af3243-3dd4-4a8d-8c0d-dd76da1f02a5"/>
    <ds:schemaRef ds:uri="16c05727-aa75-4e4a-9b5f-8a80a1165891"/>
    <ds:schemaRef ds:uri="230e9df3-be65-4c73-a93b-d1236ebd677e"/>
    <ds:schemaRef ds:uri="http://purl.org/dc/dcmitype/"/>
    <ds:schemaRef ds:uri="http://purl.org/dc/elements/1.1/"/>
  </ds:schemaRefs>
</ds:datastoreItem>
</file>

<file path=customXml/itemProps2.xml><?xml version="1.0" encoding="utf-8"?>
<ds:datastoreItem xmlns:ds="http://schemas.openxmlformats.org/officeDocument/2006/customXml" ds:itemID="{ACDF21CE-F94D-4E7A-9B41-689023E47C7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3D192A-84D9-4592-8CD0-04B2096CE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1318</Words>
  <Application>Microsoft Office PowerPoint</Application>
  <PresentationFormat>Widescreen</PresentationFormat>
  <Paragraphs>67</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Century Gothic</vt:lpstr>
      <vt:lpstr>Karla</vt:lpstr>
      <vt:lpstr>Univers Condensed Light</vt:lpstr>
      <vt:lpstr>Chalcot</vt:lpstr>
      <vt:lpstr>Conversational AI Sales Agent with Review-Driven Bidding</vt:lpstr>
      <vt:lpstr>PowerPoint Presentation</vt:lpstr>
      <vt:lpstr>Overview of the intelligent conversational agent</vt:lpstr>
      <vt:lpstr>Flow from message to product booking</vt:lpstr>
      <vt:lpstr>Collecting and analyzing customer reviews</vt:lpstr>
      <vt:lpstr>Comparing prices and quoting competitive offers</vt:lpstr>
      <vt:lpstr>Dynamic negotiation to drive purchase</vt:lpstr>
      <vt:lpstr>Final booking and system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Gannuthala, Chakradhar (Cognizant)</dc:creator>
  <cp:lastModifiedBy>Gannuthala, Chakradhar (Cognizant)</cp:lastModifiedBy>
  <cp:revision>2</cp:revision>
  <dcterms:created xsi:type="dcterms:W3CDTF">2024-06-26T20:20:27Z</dcterms:created>
  <dcterms:modified xsi:type="dcterms:W3CDTF">2025-11-05T09:24:11Z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